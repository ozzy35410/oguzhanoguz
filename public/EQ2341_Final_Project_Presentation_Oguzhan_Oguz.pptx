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Approximate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Approx. accuracy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Posterior MAP</c:v>
                </c:pt>
                <c:pt idx="1">
                  <c:v>Viterbi</c:v>
                </c:pt>
                <c:pt idx="2">
                  <c:v>Gaussian baseline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84.43</c:v>
                </c:pt>
                <c:pt idx="1">
                  <c:v>85.03</c:v>
                </c:pt>
                <c:pt idx="2">
                  <c:v>82.63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F9-4A5C-B2C0-588B3CFC4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42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Recognition Using Hidden Markov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Oguzhan Oguz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oguzhano@kth.se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EQ2341 Pattern Recognition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0" y="656539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34440" y="1234440"/>
            <a:ext cx="9738360" cy="4343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Section 1: recorded dataset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Section 2: preprocessing and feature extraction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Section 3: HMM model and Baum-Welch training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Section 4: decoding and evaluation protocol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Section 5: results, limitations, and conclusion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 and recognition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" y="1023582"/>
            <a:ext cx="324612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signal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362455"/>
            <a:ext cx="3246120" cy="19008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accelerometer log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raw sample contains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ax, ay, az.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80560" y="1051560"/>
            <a:ext cx="324612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sequence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1362456"/>
            <a:ext cx="3246120" cy="19008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 overlapping windows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window is represented by a 3D magnitude-based feature vector.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83880" y="1051560"/>
            <a:ext cx="324612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output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83880" y="1362456"/>
            <a:ext cx="3246120" cy="19008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 state sequence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standing, walking, or running for each test window.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1046988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sequence classification?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709159"/>
            <a:ext cx="10469880" cy="12973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activities are temporally persistent. The HMM uses this persistence through transition probabilities, instead of classifying each window independently.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1 - Recorded dataset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23</a:t>
            </a:r>
            <a:endParaRPr lang="en-US" sz="800" dirty="0"/>
          </a:p>
        </p:txBody>
      </p:sp>
      <p:pic>
        <p:nvPicPr>
          <p:cNvPr id="4" name="Image 0" descr="/mnt/data/new_presentation_assets/recording_du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25780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4165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Single-activity training recordings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0" y="1234440"/>
            <a:ext cx="498348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files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1545336"/>
            <a:ext cx="4983480" cy="20665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standing recordings</a:t>
            </a:r>
            <a:r>
              <a:rPr lang="tr-TR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900" dirty="0">
                <a:solidFill>
                  <a:srgbClr val="111111"/>
                </a:solidFill>
                <a:latin typeface="+mj-lt"/>
                <a:ea typeface="Arial" pitchFamily="34" charset="-122"/>
                <a:cs typeface="Arial" pitchFamily="34" charset="-120"/>
              </a:rPr>
              <a:t>(</a:t>
            </a:r>
            <a:r>
              <a:rPr lang="en-US" sz="1900" dirty="0">
                <a:latin typeface="+mj-lt"/>
              </a:rPr>
              <a:t>≈</a:t>
            </a:r>
            <a:r>
              <a:rPr lang="tr-TR" sz="1900" dirty="0">
                <a:latin typeface="+mj-lt"/>
              </a:rPr>
              <a:t> 60 </a:t>
            </a:r>
            <a:r>
              <a:rPr lang="tr-TR" sz="1900" dirty="0" err="1">
                <a:latin typeface="+mj-lt"/>
              </a:rPr>
              <a:t>seconds</a:t>
            </a:r>
            <a:r>
              <a:rPr lang="tr-TR" sz="1900" dirty="0">
                <a:solidFill>
                  <a:srgbClr val="111111"/>
                </a:solidFill>
                <a:latin typeface="+mj-lt"/>
                <a:ea typeface="Arial" pitchFamily="34" charset="-122"/>
                <a:cs typeface="Arial" pitchFamily="34" charset="-120"/>
              </a:rPr>
              <a:t>)</a:t>
            </a:r>
          </a:p>
          <a:p>
            <a:endParaRPr lang="en-US" sz="1900" dirty="0">
              <a:latin typeface="+mj-lt"/>
            </a:endParaRPr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walking recordings</a:t>
            </a:r>
            <a:r>
              <a:rPr lang="tr-TR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9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(</a:t>
            </a:r>
            <a:r>
              <a:rPr lang="en-US" sz="1900" dirty="0"/>
              <a:t>≈</a:t>
            </a:r>
            <a:r>
              <a:rPr lang="tr-TR" sz="1900" dirty="0"/>
              <a:t> 60 </a:t>
            </a:r>
            <a:r>
              <a:rPr lang="tr-TR" sz="1900" dirty="0" err="1"/>
              <a:t>seconds</a:t>
            </a:r>
            <a:r>
              <a:rPr lang="tr-TR" sz="19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)</a:t>
            </a:r>
          </a:p>
          <a:p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running recordings</a:t>
            </a:r>
            <a:r>
              <a:rPr lang="tr-TR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9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(</a:t>
            </a:r>
            <a:r>
              <a:rPr lang="en-US" sz="1900" dirty="0"/>
              <a:t>≈</a:t>
            </a:r>
            <a:r>
              <a:rPr lang="tr-TR" sz="1900" dirty="0"/>
              <a:t> 60 </a:t>
            </a:r>
            <a:r>
              <a:rPr lang="tr-TR" sz="1900" dirty="0" err="1"/>
              <a:t>seconds</a:t>
            </a:r>
            <a:r>
              <a:rPr lang="tr-TR" sz="19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)</a:t>
            </a:r>
          </a:p>
          <a:p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mixed test sequence</a:t>
            </a:r>
            <a:r>
              <a:rPr lang="tr-TR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9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(</a:t>
            </a:r>
            <a:r>
              <a:rPr lang="en-US" sz="1900" dirty="0"/>
              <a:t>≈</a:t>
            </a:r>
            <a:r>
              <a:rPr lang="tr-TR" sz="1900" dirty="0"/>
              <a:t> 120 </a:t>
            </a:r>
            <a:r>
              <a:rPr lang="tr-TR" sz="1900" dirty="0" err="1"/>
              <a:t>seconds</a:t>
            </a:r>
            <a:r>
              <a:rPr lang="tr-TR" sz="19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sampling rate</a:t>
            </a:r>
            <a:r>
              <a:rPr lang="tr-TR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Hz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8368" y="5084064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separate training recordings?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5404104"/>
            <a:ext cx="10881360" cy="102186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Single-activity recordings provide clean initial labels for the emission distributions. The mixed recording is then used to evaluate the sequential classifier on unseen activity changes.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1 - Raw mixed recording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23</a:t>
            </a:r>
            <a:endParaRPr lang="en-US" sz="800" dirty="0"/>
          </a:p>
        </p:txBody>
      </p:sp>
      <p:pic>
        <p:nvPicPr>
          <p:cNvPr id="4" name="Image 0" descr="/mnt/data/EQ2341_Final_Project_Activity_Recognition_Revised/results/mixed_acceleration_magnit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50620"/>
            <a:ext cx="10378440" cy="3459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4828032"/>
            <a:ext cx="10378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 magnitude in the mixed test recording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5216652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5536692"/>
            <a:ext cx="10881360" cy="91444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start, end, and activity-change regions may contain phone-handling artefacts. Therefore, the quantitative evaluation excludes 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temporal margins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segment boundaries.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2 -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1005840"/>
            <a:ext cx="3086100" cy="347472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46220" y="1005840"/>
            <a:ext cx="7200900" cy="347472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0861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 dirty="0">
                <a:solidFill>
                  <a:srgbClr val="000000"/>
                </a:solidFill>
                <a:latin typeface="Calibri"/>
              </a:rPr>
              <a:t>Trim start/end</a:t>
            </a:r>
          </a:p>
        </p:txBody>
      </p:sp>
      <p:sp>
        <p:nvSpPr>
          <p:cNvPr id="7" name="Text 5"/>
          <p:cNvSpPr/>
          <p:nvPr/>
        </p:nvSpPr>
        <p:spPr>
          <a:xfrm>
            <a:off x="4046220" y="1353312"/>
            <a:ext cx="72009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 dirty="0">
                <a:solidFill>
                  <a:srgbClr val="000000"/>
                </a:solidFill>
                <a:latin typeface="Calibri"/>
              </a:rPr>
              <a:t>remove handling artefacts (first/last 8 s for training)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1700784"/>
            <a:ext cx="30861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 dirty="0">
                <a:solidFill>
                  <a:srgbClr val="000000"/>
                </a:solidFill>
                <a:latin typeface="Calibri"/>
              </a:rPr>
              <a:t>Magnitude</a:t>
            </a:r>
          </a:p>
        </p:txBody>
      </p:sp>
      <p:sp>
        <p:nvSpPr>
          <p:cNvPr id="9" name="Text 7"/>
          <p:cNvSpPr/>
          <p:nvPr/>
        </p:nvSpPr>
        <p:spPr>
          <a:xfrm>
            <a:off x="4046220" y="1700784"/>
            <a:ext cx="72009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reduce sensitivity to phone orientation</a:t>
            </a:r>
          </a:p>
        </p:txBody>
      </p:sp>
      <p:sp>
        <p:nvSpPr>
          <p:cNvPr id="10" name="Text 8"/>
          <p:cNvSpPr/>
          <p:nvPr/>
        </p:nvSpPr>
        <p:spPr>
          <a:xfrm>
            <a:off x="960120" y="2048256"/>
            <a:ext cx="30861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Moving average</a:t>
            </a:r>
          </a:p>
        </p:txBody>
      </p:sp>
      <p:sp>
        <p:nvSpPr>
          <p:cNvPr id="11" name="Text 9"/>
          <p:cNvSpPr/>
          <p:nvPr/>
        </p:nvSpPr>
        <p:spPr>
          <a:xfrm>
            <a:off x="4046220" y="2048256"/>
            <a:ext cx="72009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suppress short high-frequency fluctuations</a:t>
            </a:r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30861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Windowing</a:t>
            </a:r>
          </a:p>
        </p:txBody>
      </p:sp>
      <p:sp>
        <p:nvSpPr>
          <p:cNvPr id="13" name="Text 11"/>
          <p:cNvSpPr/>
          <p:nvPr/>
        </p:nvSpPr>
        <p:spPr>
          <a:xfrm>
            <a:off x="4046220" y="2395728"/>
            <a:ext cx="72009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 dirty="0">
                <a:solidFill>
                  <a:srgbClr val="000000"/>
                </a:solidFill>
                <a:latin typeface="Calibri"/>
              </a:rPr>
              <a:t>convert raw samples into a stable feature sequence</a:t>
            </a:r>
          </a:p>
        </p:txBody>
      </p:sp>
      <p:sp>
        <p:nvSpPr>
          <p:cNvPr id="14" name="Text 12"/>
          <p:cNvSpPr/>
          <p:nvPr/>
        </p:nvSpPr>
        <p:spPr>
          <a:xfrm>
            <a:off x="952347" y="3954781"/>
            <a:ext cx="1028700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windowing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274821"/>
            <a:ext cx="10287000" cy="1389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200" dirty="0">
                <a:solidFill>
                  <a:srgbClr val="000000"/>
                </a:solidFill>
                <a:latin typeface="Calibri"/>
              </a:rPr>
              <a:t>A </a:t>
            </a:r>
            <a:r>
              <a:rPr sz="2200" b="1" dirty="0">
                <a:solidFill>
                  <a:srgbClr val="000000"/>
                </a:solidFill>
                <a:latin typeface="Calibri"/>
              </a:rPr>
              <a:t>1 s window with 0.5 s hop </a:t>
            </a:r>
            <a:r>
              <a:rPr sz="2200" dirty="0">
                <a:solidFill>
                  <a:srgbClr val="000000"/>
                </a:solidFill>
                <a:latin typeface="Calibri"/>
              </a:rPr>
              <a:t>was used. This gives smoother trajectories, but </a:t>
            </a:r>
            <a:r>
              <a:rPr sz="2200" dirty="0" err="1">
                <a:solidFill>
                  <a:srgbClr val="000000"/>
                </a:solidFill>
                <a:latin typeface="Calibri"/>
              </a:rPr>
              <a:t>neighbouring</a:t>
            </a:r>
            <a:r>
              <a:rPr sz="2200" dirty="0">
                <a:solidFill>
                  <a:srgbClr val="000000"/>
                </a:solidFill>
                <a:latin typeface="Calibri"/>
              </a:rPr>
              <a:t> windows are overlapping and should not be interpreted as fully independent test samples.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2 - Magnitude-based feature trade-off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489204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453896"/>
            <a:ext cx="4892040" cy="19019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sensitive to phone orientation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standing has low variation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running has high variation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compact enough for a small dataset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489204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453896"/>
            <a:ext cx="4892040" cy="18345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directional motion is discarded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transition artefacts can resemble running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axis-specific patterns are not used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richer features need more data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416052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4480560"/>
            <a:ext cx="1088136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fontScale="85000" lnSpcReduction="20000"/>
          </a:bodyPr>
          <a:lstStyle/>
          <a:p>
            <a:r>
              <a:rPr sz="2500" b="0">
                <a:solidFill>
                  <a:srgbClr val="000000"/>
                </a:solidFill>
                <a:latin typeface="Calibri"/>
              </a:rPr>
              <a:t>xₙ = [mean(m), std(m), range(m)]ᵀ</a:t>
            </a:r>
          </a:p>
          <a:p>
            <a:endParaRPr sz="2500" b="0">
              <a:solidFill>
                <a:srgbClr val="000000"/>
              </a:solidFill>
              <a:latin typeface="Calibri"/>
            </a:endParaRPr>
          </a:p>
          <a:p>
            <a:r>
              <a:rPr sz="2500" b="0">
                <a:solidFill>
                  <a:srgbClr val="000000"/>
                </a:solidFill>
                <a:latin typeface="Calibri"/>
              </a:rPr>
              <a:t>Standardized using training-set statistics.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2 - Training feature distribution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23</a:t>
            </a:r>
            <a:endParaRPr lang="en-US" sz="800" dirty="0"/>
          </a:p>
        </p:txBody>
      </p:sp>
      <p:pic>
        <p:nvPicPr>
          <p:cNvPr id="4" name="Image 0" descr="/mnt/data/EQ2341_Final_Project_Activity_Recognition_Revised/results/training_featur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960120"/>
            <a:ext cx="5632704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501091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Window-level features after preprocessing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544068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5760720"/>
            <a:ext cx="108813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is concentrated at low variation, running has the strongest magnitude variation, and walking lies between them. This supports a Gaussian emission model for each activity state.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3 - HMM model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365760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408176"/>
            <a:ext cx="365760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fontScale="92500" lnSpcReduction="20000"/>
          </a:bodyPr>
          <a:lstStyle/>
          <a:p>
            <a:r>
              <a:rPr sz="2300" b="0" dirty="0">
                <a:solidFill>
                  <a:srgbClr val="000000"/>
                </a:solidFill>
                <a:latin typeface="Calibri"/>
              </a:rPr>
              <a:t>Sₜ ∈ {standing, walking, running}</a:t>
            </a:r>
          </a:p>
          <a:p>
            <a:endParaRPr sz="2300" b="0" dirty="0">
              <a:solidFill>
                <a:srgbClr val="000000"/>
              </a:solidFill>
              <a:latin typeface="Calibri"/>
            </a:endParaRPr>
          </a:p>
          <a:p>
            <a:r>
              <a:rPr sz="2300" b="0" dirty="0">
                <a:solidFill>
                  <a:srgbClr val="000000"/>
                </a:solidFill>
                <a:latin typeface="Calibri"/>
              </a:rPr>
              <a:t>The state at window t is the current activity.</a:t>
            </a:r>
          </a:p>
        </p:txBody>
      </p:sp>
      <p:sp>
        <p:nvSpPr>
          <p:cNvPr id="6" name="Text 4"/>
          <p:cNvSpPr/>
          <p:nvPr/>
        </p:nvSpPr>
        <p:spPr>
          <a:xfrm>
            <a:off x="4800600" y="1097280"/>
            <a:ext cx="649224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emissions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00600" y="1408176"/>
            <a:ext cx="649224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/>
          </a:bodyPr>
          <a:lstStyle/>
          <a:p>
            <a:r>
              <a:rPr sz="2200" b="0" dirty="0">
                <a:solidFill>
                  <a:srgbClr val="000000"/>
                </a:solidFill>
                <a:latin typeface="Calibri"/>
              </a:rPr>
              <a:t>Each state uses a multivariate Gaussian density:</a:t>
            </a:r>
          </a:p>
          <a:p>
            <a:endParaRPr sz="2200" b="0" dirty="0">
              <a:solidFill>
                <a:srgbClr val="000000"/>
              </a:solidFill>
              <a:latin typeface="Calibri"/>
            </a:endParaRPr>
          </a:p>
          <a:p>
            <a:r>
              <a:rPr sz="2200" b="0" dirty="0">
                <a:solidFill>
                  <a:srgbClr val="000000"/>
                </a:solidFill>
                <a:latin typeface="Calibri"/>
              </a:rPr>
              <a:t>p(xₜ | Sₜ = j) = 𝒩(xₜ; μⱼ, Σⱼ).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3692414"/>
            <a:ext cx="104241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HMM?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010692"/>
            <a:ext cx="10424160" cy="15763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Gaussian decisions ignore 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persistence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HMM combines the 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likelihoods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transition matrix, so short isolated errors are less likely to dominate the decoded activity sequence.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3 - Initialization from labelled recordings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475488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207008"/>
            <a:ext cx="4754880" cy="30540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single-activity recordings provide stable initial labels</a:t>
            </a:r>
            <a:endParaRPr lang="tr-TR" sz="17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Gaussian means and covariances are initialized per activity</a:t>
            </a:r>
            <a:endParaRPr lang="tr-TR" sz="17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transition probabilities are initialized as mostly diagonal</a:t>
            </a:r>
            <a:endParaRPr lang="tr-TR" sz="17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 pseudocounts keep all transitions possible</a:t>
            </a:r>
            <a:endParaRPr lang="en-US" sz="1700" dirty="0"/>
          </a:p>
        </p:txBody>
      </p:sp>
      <p:pic>
        <p:nvPicPr>
          <p:cNvPr id="6" name="Image 0" descr="/mnt/data/new_presentation_assets/transition_matrix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895" y="896112"/>
            <a:ext cx="409065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42611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Baum-Welch transition matrix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4800600"/>
            <a:ext cx="1051560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5120640"/>
            <a:ext cx="10515600" cy="1213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The transition matrix is mainly a persistence model. The large diagonal probabilities show that the HMM strongly favors temporal persistence.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3 - Baum-Welch EM training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480060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362456"/>
            <a:ext cx="4800600" cy="19933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/>
          </a:bodyPr>
          <a:lstStyle/>
          <a:p>
            <a:r>
              <a:rPr sz="2100" b="0" dirty="0">
                <a:solidFill>
                  <a:srgbClr val="000000"/>
                </a:solidFill>
                <a:latin typeface="Calibri"/>
              </a:rPr>
              <a:t>Forward-Backward computes </a:t>
            </a:r>
            <a:r>
              <a:rPr sz="2100" b="1" dirty="0">
                <a:solidFill>
                  <a:srgbClr val="000000"/>
                </a:solidFill>
                <a:latin typeface="Calibri"/>
              </a:rPr>
              <a:t>posterior</a:t>
            </a:r>
            <a:endParaRPr lang="tr-TR" sz="2100" b="1" dirty="0">
              <a:solidFill>
                <a:srgbClr val="000000"/>
              </a:solidFill>
              <a:latin typeface="Calibri"/>
            </a:endParaRPr>
          </a:p>
          <a:p>
            <a:r>
              <a:rPr sz="2100" b="1" dirty="0">
                <a:solidFill>
                  <a:srgbClr val="000000"/>
                </a:solidFill>
                <a:latin typeface="Calibri"/>
              </a:rPr>
              <a:t>state probabilities</a:t>
            </a:r>
            <a:r>
              <a:rPr sz="2100" b="0" dirty="0">
                <a:solidFill>
                  <a:srgbClr val="000000"/>
                </a:solidFill>
                <a:latin typeface="Calibri"/>
              </a:rPr>
              <a:t> γⱼ(t) </a:t>
            </a:r>
            <a:r>
              <a:rPr sz="2100" b="1" dirty="0">
                <a:solidFill>
                  <a:srgbClr val="000000"/>
                </a:solidFill>
                <a:latin typeface="Calibri"/>
              </a:rPr>
              <a:t>and transitio</a:t>
            </a:r>
            <a:r>
              <a:rPr lang="en-US" sz="2100" b="1" dirty="0">
                <a:solidFill>
                  <a:srgbClr val="000000"/>
                </a:solidFill>
                <a:latin typeface="Calibri"/>
              </a:rPr>
              <a:t>n</a:t>
            </a:r>
            <a:r>
              <a:rPr lang="tr-TR" sz="21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lang="tr-TR" sz="2100" b="1" dirty="0" err="1">
                <a:solidFill>
                  <a:srgbClr val="000000"/>
                </a:solidFill>
                <a:latin typeface="Calibri"/>
              </a:rPr>
              <a:t>posteriors</a:t>
            </a:r>
            <a:r>
              <a:rPr lang="tr-TR" sz="21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l-GR" sz="2100" b="0" dirty="0">
                <a:solidFill>
                  <a:srgbClr val="000000"/>
                </a:solidFill>
                <a:latin typeface="Calibri"/>
              </a:rPr>
              <a:t>ξ</a:t>
            </a:r>
            <a:r>
              <a:rPr lang="tr-TR" sz="2100" b="0" dirty="0">
                <a:solidFill>
                  <a:srgbClr val="000000"/>
                </a:solidFill>
                <a:latin typeface="Calibri"/>
              </a:rPr>
              <a:t>ᵢⱼ(t).</a:t>
            </a:r>
          </a:p>
        </p:txBody>
      </p:sp>
      <p:sp>
        <p:nvSpPr>
          <p:cNvPr id="6" name="Text 4"/>
          <p:cNvSpPr/>
          <p:nvPr/>
        </p:nvSpPr>
        <p:spPr>
          <a:xfrm>
            <a:off x="6446520" y="1051560"/>
            <a:ext cx="480060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M-step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46520" y="1362456"/>
            <a:ext cx="4800600" cy="19933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/>
          </a:bodyPr>
          <a:lstStyle/>
          <a:p>
            <a:r>
              <a:rPr sz="2100" b="1" dirty="0">
                <a:solidFill>
                  <a:srgbClr val="000000"/>
                </a:solidFill>
                <a:latin typeface="Calibri"/>
              </a:rPr>
              <a:t>q, A, μⱼ, and Σⱼ </a:t>
            </a:r>
            <a:r>
              <a:rPr sz="2100" b="0" dirty="0">
                <a:solidFill>
                  <a:srgbClr val="000000"/>
                </a:solidFill>
                <a:latin typeface="Calibri"/>
              </a:rPr>
              <a:t>are </a:t>
            </a:r>
            <a:r>
              <a:rPr sz="2100" b="1" dirty="0">
                <a:solidFill>
                  <a:srgbClr val="000000"/>
                </a:solidFill>
                <a:latin typeface="Calibri"/>
              </a:rPr>
              <a:t>updated</a:t>
            </a:r>
            <a:r>
              <a:rPr sz="2100" b="0" dirty="0">
                <a:solidFill>
                  <a:srgbClr val="000000"/>
                </a:solidFill>
                <a:latin typeface="Calibri"/>
              </a:rPr>
              <a:t> using the posterior weights from the E-step.</a:t>
            </a:r>
          </a:p>
        </p:txBody>
      </p:sp>
      <p:sp>
        <p:nvSpPr>
          <p:cNvPr id="8" name="Text 6"/>
          <p:cNvSpPr/>
          <p:nvPr/>
        </p:nvSpPr>
        <p:spPr>
          <a:xfrm>
            <a:off x="655167" y="4083341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criterion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4403381"/>
            <a:ext cx="10881360" cy="13430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100" dirty="0">
                <a:solidFill>
                  <a:srgbClr val="000000"/>
                </a:solidFill>
                <a:latin typeface="Calibri"/>
              </a:rPr>
              <a:t>Stop when |L(k) − L(k−1)| &lt; 10⁻³.</a:t>
            </a:r>
          </a:p>
          <a:p>
            <a:endParaRPr sz="2100" dirty="0">
              <a:solidFill>
                <a:srgbClr val="000000"/>
              </a:solidFill>
              <a:latin typeface="Calibri"/>
            </a:endParaRPr>
          </a:p>
          <a:p>
            <a:r>
              <a:rPr sz="2100" dirty="0">
                <a:solidFill>
                  <a:srgbClr val="000000"/>
                </a:solidFill>
                <a:latin typeface="Calibri"/>
              </a:rPr>
              <a:t>The final run converged after 16 iterations.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3 - Baum-Welch convergence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23</a:t>
            </a:r>
            <a:endParaRPr lang="en-US" sz="800" dirty="0"/>
          </a:p>
        </p:txBody>
      </p:sp>
      <p:pic>
        <p:nvPicPr>
          <p:cNvPr id="4" name="Image 0" descr="/mnt/data/new_presentation_assets/baum_welch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08598"/>
            <a:ext cx="6400800" cy="3617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1023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log-likelihood over EM iterations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35240" y="1188720"/>
            <a:ext cx="356616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values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1499616"/>
            <a:ext cx="3566160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lnSpcReduction="10000"/>
          </a:bodyPr>
          <a:lstStyle/>
          <a:p>
            <a:r>
              <a:rPr sz="2000" b="0" dirty="0">
                <a:solidFill>
                  <a:srgbClr val="000000"/>
                </a:solidFill>
                <a:latin typeface="Calibri"/>
              </a:rPr>
              <a:t>Initial log-likelihood:</a:t>
            </a:r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2487.54</a:t>
            </a:r>
          </a:p>
          <a:p>
            <a:endParaRPr sz="2000" b="0" dirty="0">
              <a:solidFill>
                <a:srgbClr val="000000"/>
              </a:solidFill>
              <a:latin typeface="Calibri"/>
            </a:endParaRPr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Final log-likelihood:</a:t>
            </a:r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2551.70</a:t>
            </a:r>
          </a:p>
          <a:p>
            <a:endParaRPr sz="2000" b="0" dirty="0">
              <a:solidFill>
                <a:srgbClr val="000000"/>
              </a:solidFill>
              <a:latin typeface="Calibri"/>
            </a:endParaRPr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Final improvement:</a:t>
            </a:r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approximately 10⁻³</a:t>
            </a:r>
          </a:p>
        </p:txBody>
      </p:sp>
      <p:sp>
        <p:nvSpPr>
          <p:cNvPr id="8" name="Text 5"/>
          <p:cNvSpPr/>
          <p:nvPr/>
        </p:nvSpPr>
        <p:spPr>
          <a:xfrm>
            <a:off x="658368" y="544068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5760720"/>
            <a:ext cx="108813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monotonic increase is the expected behaviour of Baum-Welch EM. The small final improvement indicates that the model has nearly converged for this dataset.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3 - State identity after Baum-Welch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23</a:t>
            </a:r>
            <a:endParaRPr lang="en-US" sz="800" dirty="0"/>
          </a:p>
        </p:txBody>
      </p:sp>
      <p:pic>
        <p:nvPicPr>
          <p:cNvPr id="4" name="Image 0" descr="/mnt/data/new_presentation_assets/emission_mean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52554"/>
            <a:ext cx="6629400" cy="37470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4873752"/>
            <a:ext cx="6629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emission means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18120" y="1143000"/>
            <a:ext cx="342900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check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18120" y="1453895"/>
            <a:ext cx="3429000" cy="30593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standing remains the lowest-variation state</a:t>
            </a:r>
            <a:endParaRPr lang="en-US" sz="1700" dirty="0"/>
          </a:p>
          <a:p>
            <a:pPr marL="0" indent="0" algn="l">
              <a:buNone/>
            </a:pPr>
            <a:endParaRPr lang="tr-TR" sz="17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walking remains intermediate</a:t>
            </a:r>
            <a:endParaRPr lang="en-US" sz="1700" dirty="0"/>
          </a:p>
          <a:p>
            <a:pPr marL="0" indent="0" algn="l">
              <a:buNone/>
            </a:pPr>
            <a:endParaRPr lang="tr-TR" sz="17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running remains the highest-variation state</a:t>
            </a:r>
            <a:endParaRPr lang="en-US" sz="1700" dirty="0"/>
          </a:p>
          <a:p>
            <a:pPr marL="0" indent="0" algn="l">
              <a:buNone/>
            </a:pPr>
            <a:endParaRPr lang="tr-TR" sz="17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state-label swap was observed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8368" y="544068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5760720"/>
            <a:ext cx="108813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Baum-Welch is an unsupervised refinement step, so state labels are mathematically exchangeable. The 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initialization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kept the semantic state identities 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4 - Decoding methods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484632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453896"/>
            <a:ext cx="4846320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lnSpcReduction="10000"/>
          </a:bodyPr>
          <a:lstStyle/>
          <a:p>
            <a:r>
              <a:rPr sz="2300" b="0" dirty="0">
                <a:solidFill>
                  <a:srgbClr val="000000"/>
                </a:solidFill>
                <a:latin typeface="Calibri"/>
              </a:rPr>
              <a:t>Forward-Backward gives</a:t>
            </a:r>
          </a:p>
          <a:p>
            <a:endParaRPr sz="2300" b="0" dirty="0">
              <a:solidFill>
                <a:srgbClr val="000000"/>
              </a:solidFill>
              <a:latin typeface="Calibri"/>
            </a:endParaRPr>
          </a:p>
          <a:p>
            <a:r>
              <a:rPr sz="2300" b="0" dirty="0">
                <a:solidFill>
                  <a:srgbClr val="000000"/>
                </a:solidFill>
                <a:latin typeface="Calibri"/>
              </a:rPr>
              <a:t>γⱼ(t) = P(Sₜ = j | X, λ).</a:t>
            </a:r>
          </a:p>
          <a:p>
            <a:endParaRPr sz="2300" b="0" dirty="0">
              <a:solidFill>
                <a:srgbClr val="000000"/>
              </a:solidFill>
              <a:latin typeface="Calibri"/>
            </a:endParaRPr>
          </a:p>
          <a:p>
            <a:r>
              <a:rPr sz="2300" b="0" dirty="0">
                <a:solidFill>
                  <a:srgbClr val="000000"/>
                </a:solidFill>
                <a:latin typeface="Calibri"/>
              </a:rPr>
              <a:t>The posterior MAP label is</a:t>
            </a:r>
          </a:p>
          <a:p>
            <a:endParaRPr sz="2300" b="0" dirty="0">
              <a:solidFill>
                <a:srgbClr val="000000"/>
              </a:solidFill>
              <a:latin typeface="Calibri"/>
            </a:endParaRPr>
          </a:p>
          <a:p>
            <a:r>
              <a:rPr sz="2300" b="0" dirty="0">
                <a:solidFill>
                  <a:srgbClr val="000000"/>
                </a:solidFill>
                <a:latin typeface="Calibri"/>
              </a:rPr>
              <a:t>Ŝₜ = </a:t>
            </a:r>
            <a:r>
              <a:rPr sz="2300" b="0" dirty="0" err="1">
                <a:solidFill>
                  <a:srgbClr val="000000"/>
                </a:solidFill>
                <a:latin typeface="Calibri"/>
              </a:rPr>
              <a:t>arg</a:t>
            </a:r>
            <a:r>
              <a:rPr sz="2300" b="0" dirty="0">
                <a:solidFill>
                  <a:srgbClr val="000000"/>
                </a:solidFill>
                <a:latin typeface="Calibri"/>
              </a:rPr>
              <a:t> maxⱼ γⱼ(t).</a:t>
            </a:r>
          </a:p>
        </p:txBody>
      </p:sp>
      <p:sp>
        <p:nvSpPr>
          <p:cNvPr id="6" name="Text 4"/>
          <p:cNvSpPr/>
          <p:nvPr/>
        </p:nvSpPr>
        <p:spPr>
          <a:xfrm>
            <a:off x="6446520" y="1143000"/>
            <a:ext cx="484632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Viterbi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46520" y="1453896"/>
            <a:ext cx="4846320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Viterbi finds the most probable complete state sequence.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usually gives smoother trajectories because it optimizes the 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path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4901184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check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5198364"/>
            <a:ext cx="10881360" cy="6739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decoders are reported because they answer related but different HMM inference questions.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4 - Evaluation protocol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3223260" cy="347472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54780" y="960120"/>
            <a:ext cx="7520940" cy="347472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used in this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307592"/>
            <a:ext cx="32232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Training files</a:t>
            </a:r>
          </a:p>
        </p:txBody>
      </p:sp>
      <p:sp>
        <p:nvSpPr>
          <p:cNvPr id="7" name="Text 5"/>
          <p:cNvSpPr/>
          <p:nvPr/>
        </p:nvSpPr>
        <p:spPr>
          <a:xfrm>
            <a:off x="3954780" y="1307592"/>
            <a:ext cx="75209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nine single-activity recordings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1655064"/>
            <a:ext cx="32232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Test file</a:t>
            </a:r>
          </a:p>
        </p:txBody>
      </p:sp>
      <p:sp>
        <p:nvSpPr>
          <p:cNvPr id="9" name="Text 7"/>
          <p:cNvSpPr/>
          <p:nvPr/>
        </p:nvSpPr>
        <p:spPr>
          <a:xfrm>
            <a:off x="3954780" y="1655064"/>
            <a:ext cx="75209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one mixed recording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2002536"/>
            <a:ext cx="32232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Known order</a:t>
            </a:r>
          </a:p>
        </p:txBody>
      </p:sp>
      <p:sp>
        <p:nvSpPr>
          <p:cNvPr id="11" name="Text 9"/>
          <p:cNvSpPr/>
          <p:nvPr/>
        </p:nvSpPr>
        <p:spPr>
          <a:xfrm>
            <a:off x="3954780" y="2002536"/>
            <a:ext cx="75209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standing -&gt; walking -&gt; running -&gt; walking -&gt; standing -&gt; running</a:t>
            </a:r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32232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Boundaries</a:t>
            </a:r>
          </a:p>
        </p:txBody>
      </p:sp>
      <p:sp>
        <p:nvSpPr>
          <p:cNvPr id="13" name="Text 11"/>
          <p:cNvSpPr/>
          <p:nvPr/>
        </p:nvSpPr>
        <p:spPr>
          <a:xfrm>
            <a:off x="3954780" y="2350008"/>
            <a:ext cx="75209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approx. equal-duration segments (exact timestamps unavailable)</a:t>
            </a:r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32232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Excluded margins</a:t>
            </a:r>
          </a:p>
        </p:txBody>
      </p:sp>
      <p:sp>
        <p:nvSpPr>
          <p:cNvPr id="15" name="Text 13"/>
          <p:cNvSpPr/>
          <p:nvPr/>
        </p:nvSpPr>
        <p:spPr>
          <a:xfrm>
            <a:off x="3954780" y="2697480"/>
            <a:ext cx="75209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5 s at edges and 3 s around transitions</a:t>
            </a:r>
          </a:p>
        </p:txBody>
      </p:sp>
      <p:sp>
        <p:nvSpPr>
          <p:cNvPr id="16" name="Text 14"/>
          <p:cNvSpPr/>
          <p:nvPr/>
        </p:nvSpPr>
        <p:spPr>
          <a:xfrm>
            <a:off x="731520" y="3044952"/>
            <a:ext cx="32232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Metric</a:t>
            </a:r>
          </a:p>
        </p:txBody>
      </p:sp>
      <p:sp>
        <p:nvSpPr>
          <p:cNvPr id="17" name="Text 15"/>
          <p:cNvSpPr/>
          <p:nvPr/>
        </p:nvSpPr>
        <p:spPr>
          <a:xfrm>
            <a:off x="3954780" y="3044952"/>
            <a:ext cx="75209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overlapping-window accuracy and confusion matrix</a:t>
            </a:r>
          </a:p>
        </p:txBody>
      </p:sp>
      <p:sp>
        <p:nvSpPr>
          <p:cNvPr id="18" name="Text 16"/>
          <p:cNvSpPr/>
          <p:nvPr/>
        </p:nvSpPr>
        <p:spPr>
          <a:xfrm>
            <a:off x="731520" y="4393692"/>
            <a:ext cx="1074420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85502"/>
            <a:ext cx="10744200" cy="141329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0000" tIns="50000" rIns="90000" bIns="50000" rtlCol="0" anchor="ctr">
            <a:noAutofit/>
          </a:bodyPr>
          <a:lstStyle/>
          <a:p>
            <a:r>
              <a:rPr sz="2100" dirty="0">
                <a:solidFill>
                  <a:srgbClr val="000000"/>
                </a:solidFill>
                <a:latin typeface="Calibri"/>
              </a:rPr>
              <a:t>The reported accuracy is approximate because exact transition timestamps were not available. Some errors may therefore reflect label-boundary mismatch rather than only model mistakes.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4 - Mixed test sequence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23</a:t>
            </a:r>
            <a:endParaRPr lang="en-US" sz="800" dirty="0"/>
          </a:p>
        </p:txBody>
      </p:sp>
      <p:pic>
        <p:nvPicPr>
          <p:cNvPr id="4" name="Image 0" descr="/mnt/data/EQ2341_Final_Project_Activity_Recognition_Revised/results/mixed_activity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7780"/>
            <a:ext cx="10927080" cy="3642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5267706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3808" y="5587745"/>
            <a:ext cx="10881360" cy="7039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decoded trajectory follows the intended activity order, but some confusion appears near standing segments and transitions.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5 - Accuracy and baseline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635240" y="1188720"/>
            <a:ext cx="352044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numeric results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635240" y="1499615"/>
            <a:ext cx="3520440" cy="25187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MAP: 84.4%</a:t>
            </a:r>
            <a:endParaRPr lang="tr-TR" sz="20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Viterbi: 85.0%</a:t>
            </a:r>
            <a:endParaRPr lang="tr-TR" sz="20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Gaussian: 82.6%</a:t>
            </a:r>
            <a:endParaRPr lang="tr-TR" sz="20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windows: 167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8368" y="534924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5669280"/>
            <a:ext cx="1088136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HMM improves over the independent Gaussian baseline, mainly </a:t>
            </a: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adding temporal persistence 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transition matrix.</a:t>
            </a:r>
            <a:endParaRPr lang="en-US" sz="1800" dirty="0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143000"/>
          <a:ext cx="58521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5 - Confusion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23</a:t>
            </a:r>
            <a:endParaRPr lang="en-US" sz="800" dirty="0"/>
          </a:p>
        </p:txBody>
      </p:sp>
      <p:pic>
        <p:nvPicPr>
          <p:cNvPr id="4" name="Image 0" descr="/mnt/data/EQ2341_Final_Project_Activity_Recognition_Revised/results/posterior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68680"/>
            <a:ext cx="512064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960120"/>
            <a:ext cx="420624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observations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72200" y="1280160"/>
            <a:ext cx="4206240" cy="269622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/>
          </a:bodyPr>
          <a:lstStyle/>
          <a:p>
            <a:r>
              <a:rPr sz="2100" b="0" dirty="0">
                <a:solidFill>
                  <a:srgbClr val="000000"/>
                </a:solidFill>
                <a:latin typeface="Calibri"/>
              </a:rPr>
              <a:t>• running: reliable</a:t>
            </a:r>
            <a:endParaRPr lang="tr-TR" sz="2100" b="0" dirty="0">
              <a:solidFill>
                <a:srgbClr val="000000"/>
              </a:solidFill>
              <a:latin typeface="Calibri"/>
            </a:endParaRPr>
          </a:p>
          <a:p>
            <a:endParaRPr sz="2100" b="0" dirty="0">
              <a:solidFill>
                <a:srgbClr val="000000"/>
              </a:solidFill>
              <a:latin typeface="Calibri"/>
            </a:endParaRPr>
          </a:p>
          <a:p>
            <a:r>
              <a:rPr sz="2100" b="0" dirty="0">
                <a:solidFill>
                  <a:srgbClr val="000000"/>
                </a:solidFill>
                <a:latin typeface="Calibri"/>
              </a:rPr>
              <a:t>• walking: mostly correct</a:t>
            </a:r>
            <a:endParaRPr lang="tr-TR" sz="2100" b="0" dirty="0">
              <a:solidFill>
                <a:srgbClr val="000000"/>
              </a:solidFill>
              <a:latin typeface="Calibri"/>
            </a:endParaRPr>
          </a:p>
          <a:p>
            <a:endParaRPr sz="2100" b="0" dirty="0">
              <a:solidFill>
                <a:srgbClr val="000000"/>
              </a:solidFill>
              <a:latin typeface="Calibri"/>
            </a:endParaRPr>
          </a:p>
          <a:p>
            <a:r>
              <a:rPr sz="2100" b="0" dirty="0">
                <a:solidFill>
                  <a:srgbClr val="000000"/>
                </a:solidFill>
                <a:latin typeface="Calibri"/>
              </a:rPr>
              <a:t>• main error: standing → running</a:t>
            </a:r>
            <a:endParaRPr lang="tr-TR" sz="2100" b="0" dirty="0">
              <a:solidFill>
                <a:srgbClr val="000000"/>
              </a:solidFill>
              <a:latin typeface="Calibri"/>
            </a:endParaRPr>
          </a:p>
          <a:p>
            <a:endParaRPr sz="2100" b="0" dirty="0">
              <a:solidFill>
                <a:srgbClr val="000000"/>
              </a:solidFill>
              <a:latin typeface="Calibri"/>
            </a:endParaRPr>
          </a:p>
          <a:p>
            <a:r>
              <a:rPr sz="2100" b="0" dirty="0">
                <a:solidFill>
                  <a:srgbClr val="000000"/>
                </a:solidFill>
                <a:latin typeface="Calibri"/>
              </a:rPr>
              <a:t>• boundary uncertainty likely contributes</a:t>
            </a:r>
          </a:p>
        </p:txBody>
      </p:sp>
      <p:sp>
        <p:nvSpPr>
          <p:cNvPr id="7" name="Text 4"/>
          <p:cNvSpPr/>
          <p:nvPr/>
        </p:nvSpPr>
        <p:spPr>
          <a:xfrm>
            <a:off x="658368" y="537210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5692140"/>
            <a:ext cx="10881360" cy="8732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/>
          </a:bodyPr>
          <a:lstStyle/>
          <a:p>
            <a:r>
              <a:rPr sz="1900" b="0" dirty="0">
                <a:solidFill>
                  <a:srgbClr val="000000"/>
                </a:solidFill>
                <a:latin typeface="Calibri"/>
              </a:rPr>
              <a:t>The standing-running confusion should not be interpreted only as an emission-model weakness; approximate transition labels may contribute.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5 - Error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498348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causes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362456"/>
            <a:ext cx="4983480" cy="2542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approximate equal-duration ground truth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activity changes not exactly aligned with segment boundaries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handling at start and end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transient motion during standing segments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355080" y="1051560"/>
            <a:ext cx="498348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 well?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362456"/>
            <a:ext cx="4983480" cy="2542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 features separated the three activity levels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Baum-Welch increased the likelihood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Viterbi gave the best approximate accuracy</a:t>
            </a:r>
            <a:endParaRPr lang="tr-TR" sz="19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HMM outperformed the non-temporal baseline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475488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interpretation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5074920"/>
            <a:ext cx="10881360" cy="12923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working proof of concept: the classifier captures the activity sequence, while the remaining errors mostly occur where the reference labels are least certain.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5 -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498348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316736"/>
            <a:ext cx="4983480" cy="25589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one user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phone placement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 single-activity recordings per class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mixed test sequence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exact manual timestamps for transitions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55080" y="1005840"/>
            <a:ext cx="498348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316736"/>
            <a:ext cx="4983480" cy="255897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off-diagonal transitions are weakly informed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overlapping windows are not independent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magnitude features discard directional information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Gaussian emissions are simple approximations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9036" y="4764024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9036" y="5070348"/>
            <a:ext cx="10881360" cy="684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stronger evaluation would use multiple mixed recordings, several users, exact transition timestamps, and possibly richer orientation-aware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package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3072384" cy="347472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986784" y="1097280"/>
            <a:ext cx="7168896" cy="347472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material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444752"/>
            <a:ext cx="3072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86784" y="1444752"/>
            <a:ext cx="7168896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fontScale="85000" lnSpcReduction="20000"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executed Jupyter notebook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1792224"/>
            <a:ext cx="3072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86784" y="1792224"/>
            <a:ext cx="7168896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fontScale="85000" lnSpcReduction="20000"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raw sensor logs in data/raw/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2139696"/>
            <a:ext cx="3072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86784" y="2139696"/>
            <a:ext cx="7168896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fontScale="85000" lnSpcReduction="20000"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plots and CSV files in results/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3072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86784" y="2487168"/>
            <a:ext cx="7168896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fontScale="85000" lnSpcReduction="20000"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report PDF, LaTeX source, and presentation file</a:t>
            </a:r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3072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86784" y="2834640"/>
            <a:ext cx="7168896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fontScale="85000" lnSpcReduction="20000"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README.md and requirements.txt</a:t>
            </a:r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1024128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reproduce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1024128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000" tIns="60000" rIns="100000" bIns="60000" rtlCol="0" anchor="ctr">
            <a:normAutofit lnSpcReduction="10000"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Install the packages from requirements.txt and run the notebook from the project root. The notebook regenerates preprocessing, training, decoding, evaluation, and plots.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85F9E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507492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achieved?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316736"/>
            <a:ext cx="5074920" cy="26428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accelerometer data were recorded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3-state Gaussian-emission HMM was trained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Baum-Welch EM refined the model</a:t>
            </a:r>
            <a:endParaRPr lang="tr-TR" sz="1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Forward-Backward and Viterbi decoding were evaluated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63640" y="1005840"/>
            <a:ext cx="5074920" cy="310896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316735"/>
            <a:ext cx="5074920" cy="264286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approximate mixed-test accuracy was 85.0% using Viterbi decoding.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HMM outperformed the independent Gaussian baseline by using temporal persistence.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4983480"/>
            <a:ext cx="10881360" cy="320040"/>
          </a:xfrm>
          <a:prstGeom prst="rect">
            <a:avLst/>
          </a:prstGeom>
          <a:solidFill>
            <a:srgbClr val="078F86"/>
          </a:solidFill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takeaway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5303519"/>
            <a:ext cx="10881360" cy="110566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demonstrates a complete and reproducible HMM-based activity recognition pipeline, while clearly stating the limitations caused by a small dataset and approximate mixed-test labels.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welcome.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75720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1536</Words>
  <Application>Microsoft Office PowerPoint</Application>
  <PresentationFormat>Widescreen</PresentationFormat>
  <Paragraphs>313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Recognition Using Hidden Markov Models</dc:title>
  <dc:subject>EQ2341 Activity Recognition Project</dc:subject>
  <dc:creator>Oguzhan Oguz</dc:creator>
  <cp:lastModifiedBy>Oğuzhan Oğuz</cp:lastModifiedBy>
  <cp:revision>8</cp:revision>
  <dcterms:created xsi:type="dcterms:W3CDTF">2026-05-25T22:56:34Z</dcterms:created>
  <dcterms:modified xsi:type="dcterms:W3CDTF">2026-06-03T14:10:43Z</dcterms:modified>
</cp:coreProperties>
</file>